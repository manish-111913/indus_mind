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70B9FF-98DD-4D9E-B2F1-1B02C79F21E2}" v="98" dt="2026-07-16T18:26:30.6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238F7F-9411-4593-BCA7-E52D36BB8650}" type="datetimeFigureOut">
              <a:t>7/16/2026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46DF7-BD9A-42F1-BA68-1F385F4CE34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010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874520"/>
            <a:ext cx="2011680" cy="0"/>
          </a:xfrm>
          <a:prstGeom prst="line">
            <a:avLst/>
          </a:prstGeom>
          <a:noFill/>
          <a:ln w="381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7E8C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  ·  ET HACKATHON 2026  ·  PROBLEM 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0A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IndusMind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Unified Asset &amp; Operations Intelligence Platform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2519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fragmented industrial knowledge into cited, governed, decision-ready answers.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>
              <a:solidFill>
                <a:srgbClr val="7E8C94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94360" y="6419088"/>
            <a:ext cx="11000232" cy="0"/>
          </a:xfrm>
          <a:prstGeom prst="line">
            <a:avLst/>
          </a:prstGeom>
          <a:noFill/>
          <a:ln w="9525">
            <a:solidFill>
              <a:srgbClr val="D9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IndusMind — Unified Asset &amp; Operations Intelligence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84080" y="647395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>
              <a:solidFill>
                <a:srgbClr val="7E8C94"/>
              </a:solidFill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11018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IndusMind converts an eroding knowledge base into a governed operating asset — with measurable results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25880" y="169164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 structural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032145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staff lose ~35% of their time searching across 7–12 disconnected repositories, while an ageing expert workforce takes decades of know-how with it at retirement.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94360" y="321868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325880" y="317296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is unified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426387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ingests and understands every document, links it with live operational data in a knowledge graph, and answers plain-language questions — every claim cited to its source and confidence-scored.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94360" y="470001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25880" y="4654296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results are verifiable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5002058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Time-to-answer falls from hours to under a minute; audit evidence assembles in minutes; a submitted shift log becomes citable knowledge immediately. Every claim can be reproduced in the demonstration environment.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CONTEXT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94360" y="6419088"/>
            <a:ext cx="11000232" cy="0"/>
          </a:xfrm>
          <a:prstGeom prst="line">
            <a:avLst/>
          </a:prstGeom>
          <a:noFill/>
          <a:ln w="9525">
            <a:solidFill>
              <a:srgbClr val="D9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IndusMind — Unified Asset &amp; Operations Intelligence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84080" y="647395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900" dirty="0">
              <a:solidFill>
                <a:srgbClr val="7E8C94"/>
              </a:solidFill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11018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third of technical capacity is consumed by searching — and the knowledge itself is leaving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94360" y="164592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F5F8F9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28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A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86968" y="26974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professional time spent locating information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164592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F5F8F9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828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A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7–12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654296" y="26974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repositories in a typical plant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9016" y="164592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F5F8F9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03336" y="1828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A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yrs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421624" y="26974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tacit expertise lost with each retirement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operational consequences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" y="4596094"/>
            <a:ext cx="128016" cy="12801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" y="427024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failures — </a:t>
            </a:r>
            <a:r>
              <a:rPr lang="en-US" sz="12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solved years ago recur because the fix is unfindable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4596094"/>
            <a:ext cx="128016" cy="12801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6601968" y="427024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downtime — </a:t>
            </a:r>
            <a:r>
              <a:rPr lang="en-US" sz="12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Repairs wait while the right document hides on page 214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9674" y="5445179"/>
            <a:ext cx="128016" cy="12801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886968" y="518464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exposure — </a:t>
            </a:r>
            <a:r>
              <a:rPr lang="en-US" sz="12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raised for evidence that exists but cannot be produced in time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09360" y="5510494"/>
            <a:ext cx="128016" cy="12801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4" name="Text 22"/>
          <p:cNvSpPr/>
          <p:nvPr/>
        </p:nvSpPr>
        <p:spPr>
          <a:xfrm>
            <a:off x="6601968" y="518464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payroll — </a:t>
            </a:r>
            <a:r>
              <a:rPr lang="en-US" sz="12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engineering hours spent searching rather than solving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94360" y="6419088"/>
            <a:ext cx="11000232" cy="0"/>
          </a:xfrm>
          <a:prstGeom prst="line">
            <a:avLst/>
          </a:prstGeom>
          <a:noFill/>
          <a:ln w="9525">
            <a:solidFill>
              <a:srgbClr val="D9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IndusMind — Unified Asset &amp; Operations Intelligence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84080" y="647395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>
              <a:solidFill>
                <a:srgbClr val="7E8C94"/>
              </a:solidFill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11018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that understands the documents, connects the operation, and answers with evidence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94360" y="1645920"/>
            <a:ext cx="3474720" cy="448056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901952"/>
            <a:ext cx="1691640" cy="402336"/>
          </a:xfrm>
          <a:prstGeom prst="roundRect">
            <a:avLst>
              <a:gd name="adj" fmla="val 50000"/>
            </a:avLst>
          </a:prstGeom>
          <a:solidFill>
            <a:srgbClr val="E7F1F2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" y="190195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0A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251460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of documents of any age — OCR for scans, table parsing, entity extraction with human review — linked into a plant-wide knowledge graph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4434840"/>
            <a:ext cx="2926080" cy="0"/>
          </a:xfrm>
          <a:prstGeom prst="line">
            <a:avLst/>
          </a:prstGeom>
          <a:noFill/>
          <a:ln w="9525">
            <a:solidFill>
              <a:srgbClr val="D9E1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572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5029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5486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360° views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61688" y="1645920"/>
            <a:ext cx="3474720" cy="448056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901952"/>
            <a:ext cx="1691640" cy="402336"/>
          </a:xfrm>
          <a:prstGeom prst="roundRect">
            <a:avLst>
              <a:gd name="adj" fmla="val 50000"/>
            </a:avLst>
          </a:prstGeom>
          <a:solidFill>
            <a:srgbClr val="E7F1F2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90195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0A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36008" y="251460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assistant grounded in retrieved evidence: every claim cited to its source page, confidence disclosed, answers in seconds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36008" y="4434840"/>
            <a:ext cx="2926080" cy="0"/>
          </a:xfrm>
          <a:prstGeom prst="line">
            <a:avLst/>
          </a:prstGeom>
          <a:noFill/>
          <a:ln w="9525">
            <a:solidFill>
              <a:srgbClr val="D9E1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36008" y="4572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assistant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36008" y="5029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search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636008" y="5486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dashboards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29016" y="1645920"/>
            <a:ext cx="3474720" cy="448056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85048" y="1901952"/>
            <a:ext cx="1691640" cy="402336"/>
          </a:xfrm>
          <a:prstGeom prst="roundRect">
            <a:avLst>
              <a:gd name="adj" fmla="val 50000"/>
            </a:avLst>
          </a:prstGeom>
          <a:solidFill>
            <a:srgbClr val="E7F1F2"/>
          </a:solidFill>
          <a:ln/>
        </p:spPr>
      </p:sp>
      <p:sp>
        <p:nvSpPr>
          <p:cNvPr id="25" name="Text 23"/>
          <p:cNvSpPr/>
          <p:nvPr/>
        </p:nvSpPr>
        <p:spPr>
          <a:xfrm>
            <a:off x="8385048" y="190195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0A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403336" y="251460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knowledge drives operations: risk indication, root-cause support, compliance gaps, audit evidence, and captured shift experience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403336" y="4434840"/>
            <a:ext cx="2926080" cy="0"/>
          </a:xfrm>
          <a:prstGeom prst="line">
            <a:avLst/>
          </a:prstGeom>
          <a:noFill/>
          <a:ln w="9525">
            <a:solidFill>
              <a:srgbClr val="D9E1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03336" y="4572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Condition-based risk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03336" y="5029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evidence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03336" y="5486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logbook &amp; lessons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94360" y="6419088"/>
            <a:ext cx="11000232" cy="0"/>
          </a:xfrm>
          <a:prstGeom prst="line">
            <a:avLst/>
          </a:prstGeom>
          <a:noFill/>
          <a:ln w="9525">
            <a:solidFill>
              <a:srgbClr val="D9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IndusMind — Unified Asset &amp; Operations Intelligence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84080" y="647395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>
              <a:solidFill>
                <a:srgbClr val="7E8C94"/>
              </a:solidFill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11018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answer is retrieved, verified, and cited — never asserted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F5F8F9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783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2084832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23774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question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169164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F5F8F9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1783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87752" y="2084832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87752" y="23774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tenant, role checks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43400" y="169164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F5F8F9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62272" y="1783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62272" y="2084832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62272" y="23774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+ keyword, rank-fused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169164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F5F8F9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783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36792" y="2084832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36792" y="23774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pulls linked records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92440" y="169164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F5F8F9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1312" y="1783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11312" y="2084832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&amp; verify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11312" y="23774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evidence-only; citations checked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966960" y="169164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E7F1F2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85832" y="1783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085832" y="2084832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85832" y="23774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streamed, scored, sourced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4360" y="3246120"/>
            <a:ext cx="11000232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3419856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E8C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— AN ANSWER EXACTLY AS THE PLATFORM PRESENTS IT ON SCREEN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68680" y="36758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does pump P-101 keep failing?”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68680" y="41148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failures trace to mechanical seal degradation in high-humidity months </a:t>
            </a: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Three of four events fall within monsoon periods </a:t>
            </a: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consistent with the seal-storage caution in the pump’s vendor manual, section 6.4 </a:t>
            </a: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Recommended action: inspect the seal chamber and verify nitrogen purge before June.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68680" y="5029200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7E8C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NUMBERED CITATIONS ARE THE PLATFORM’S OWN — EACH OPENS THE EXACT SOURCE PAGE INSIDE THE APPLICATION: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68680" y="52852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Failure records of pump P-101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89120" y="52852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Work-order history, 2023–25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09560" y="52852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Vendor manual for P-101, page 214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68680" y="5614416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9525">
            <a:solidFill>
              <a:srgbClr val="C3E5C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561441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 High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88920" y="5614416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BF1DF"/>
          </a:solidFill>
          <a:ln w="9525">
            <a:solidFill>
              <a:srgbClr val="EBD6A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88920" y="561441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Answered in 38 seconds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166360" y="561441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E8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method: several hours of manual search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94360" y="6419088"/>
            <a:ext cx="11000232" cy="0"/>
          </a:xfrm>
          <a:prstGeom prst="line">
            <a:avLst/>
          </a:prstGeom>
          <a:noFill/>
          <a:ln w="9525">
            <a:solidFill>
              <a:srgbClr val="D9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IndusMind — Unified Asset &amp; Operations Intelligence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84080" y="647395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>
              <a:solidFill>
                <a:srgbClr val="7E8C94"/>
              </a:solidFill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11018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layered, modular architecture — enterprise controls built in, no vendor lock-in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6114143" y="1640550"/>
            <a:ext cx="128016" cy="12801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Text 6"/>
          <p:cNvSpPr/>
          <p:nvPr/>
        </p:nvSpPr>
        <p:spPr>
          <a:xfrm>
            <a:off x="6446520" y="15544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application tier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46520" y="1847088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deployable, strictly bounded domain modules; uniform control chain (identity → tenant → role → limits → audit) on every request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43171" y="2609814"/>
            <a:ext cx="128016" cy="12801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2" name="Text 9"/>
          <p:cNvSpPr/>
          <p:nvPr/>
        </p:nvSpPr>
        <p:spPr>
          <a:xfrm>
            <a:off x="6446520" y="252374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Polyglot data tier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46520" y="2816352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as the single system of record with integrated vector search; the graph is a rebuildable projection — never a second source of truth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50428" y="3579078"/>
            <a:ext cx="128016" cy="12801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" name="Text 12"/>
          <p:cNvSpPr/>
          <p:nvPr/>
        </p:nvSpPr>
        <p:spPr>
          <a:xfrm>
            <a:off x="6446520" y="34930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Asynchronous intelligence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446520" y="3785616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heavy work — OCR, embedding, extraction, generation — runs in queued workers with live progress to the user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50429" y="4548342"/>
            <a:ext cx="128016" cy="12801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8" name="Text 15"/>
          <p:cNvSpPr/>
          <p:nvPr/>
        </p:nvSpPr>
        <p:spPr>
          <a:xfrm>
            <a:off x="6446520" y="44622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Pluggable providers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446520" y="4754880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or fully local AI models, OCR, and email behind adapters — selected by configuration, changed without code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72200" y="5517605"/>
            <a:ext cx="128016" cy="12801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1" name="Text 18"/>
          <p:cNvSpPr/>
          <p:nvPr/>
        </p:nvSpPr>
        <p:spPr>
          <a:xfrm>
            <a:off x="6446520" y="543153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parity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446520" y="5724144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runs everything on a laptop; the identical build deploys to cloud infrastructure defined as code</a:t>
            </a:r>
            <a:endParaRPr lang="en-US" sz="11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5CF0008-26F1-9564-8255-C1872ACD2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340" y="1378857"/>
            <a:ext cx="5721722" cy="50800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GOVERNANCE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94360" y="6419088"/>
            <a:ext cx="11000232" cy="0"/>
          </a:xfrm>
          <a:prstGeom prst="line">
            <a:avLst/>
          </a:prstGeom>
          <a:noFill/>
          <a:ln w="9525">
            <a:solidFill>
              <a:srgbClr val="D9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IndusMind — Unified Asset &amp; Operations Intelligence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84080" y="647395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>
              <a:solidFill>
                <a:srgbClr val="7E8C94"/>
              </a:solidFill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11018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Isolation, authorisation, and accountability are foundational services — not features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5349240" cy="1280160"/>
          </a:xfrm>
          <a:prstGeom prst="roundRect">
            <a:avLst>
              <a:gd name="adj" fmla="val 4286"/>
            </a:avLst>
          </a:prstGeom>
          <a:solidFill>
            <a:srgbClr val="F5F8F9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88366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isolation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" y="221284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tenant-scoped by construction; isolation verified by dedicated automated tests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3492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88366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19672" y="221284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business roles over fine-grained permission codes, enforced at every endpoint; full authorisation test matrix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200400"/>
            <a:ext cx="53492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3467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" y="367588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signed tokens, rotating refresh with reuse detection; per-user session visibility and revocation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200400"/>
            <a:ext cx="5349240" cy="1280160"/>
          </a:xfrm>
          <a:prstGeom prst="roundRect">
            <a:avLst>
              <a:gd name="adj" fmla="val 4286"/>
            </a:avLst>
          </a:prstGeom>
          <a:solidFill>
            <a:srgbClr val="F5F8F9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33467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19672" y="367588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trail — actor, action, subject, origin, before/after — available to authorised reviewers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4663440"/>
            <a:ext cx="5349240" cy="1280160"/>
          </a:xfrm>
          <a:prstGeom prst="roundRect">
            <a:avLst>
              <a:gd name="adj" fmla="val 4286"/>
            </a:avLst>
          </a:prstGeom>
          <a:solidFill>
            <a:srgbClr val="F5F8F9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48097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protection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0392" y="513892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in transit and at rest; files via expiring signed URLs only; secrets in a managed vault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4663440"/>
            <a:ext cx="53492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48097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lifecycle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19672" y="513892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Administered retention policies per data class with archival and audited execution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GOVERNANCE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94360" y="6419088"/>
            <a:ext cx="11000232" cy="0"/>
          </a:xfrm>
          <a:prstGeom prst="line">
            <a:avLst/>
          </a:prstGeom>
          <a:noFill/>
          <a:ln w="9525">
            <a:solidFill>
              <a:srgbClr val="D9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IndusMind — Unified Asset &amp; Operations Intelligence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84080" y="647395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>
              <a:solidFill>
                <a:srgbClr val="7E8C94"/>
              </a:solidFill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11018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is designed to be supervised — grounded, measured, metered, and replaceable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37903" y="171776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7647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by construction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80160" y="208483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sees only retrieved evidence and abstains when it is insufficient; an automated verifier checks every citation before display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63640" y="171776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49440" y="17647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disclosed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49440" y="208483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carries an explicit confidence indication; weak answers say so and recommend human confirmation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7903" y="3127829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1821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accountability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80160" y="350215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extractions require confirmation; analytical suggestions are advisory — engineers decide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63640" y="3127829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49440" y="31821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measured continuously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49440" y="350215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benchmark scores answer quality on every change; user feedback flows into the same loop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7903" y="4545149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4599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Consumption fully metered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280160" y="49194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call records tokens, cost, latency, and cache use — spend visible by feature, model, and day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63640" y="4545149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49440" y="4599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Provider-independent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949440" y="49194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and model choices are versioned configuration; providers can be changed — or run fully on-premises — without code change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94360" y="6419088"/>
            <a:ext cx="11000232" cy="0"/>
          </a:xfrm>
          <a:prstGeom prst="line">
            <a:avLst/>
          </a:prstGeom>
          <a:noFill/>
          <a:ln w="9525">
            <a:solidFill>
              <a:srgbClr val="D9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IndusMind — Unified Asset &amp; Operations Intelligence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84080" y="647395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>
              <a:solidFill>
                <a:srgbClr val="7E8C94"/>
              </a:solidFill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11018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case is arithmetic: recovered time alone funds the platform many times over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5486400" cy="4297680"/>
          </a:xfrm>
          <a:prstGeom prst="roundRect">
            <a:avLst>
              <a:gd name="adj" fmla="val 1277"/>
            </a:avLst>
          </a:prstGeom>
          <a:solidFill>
            <a:srgbClr val="F5F8F9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0195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— one plant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377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3484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cost per engineer, per year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 lakh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3474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lost to information search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34840" y="3474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4023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recovered (conservative)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34840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4681728"/>
            <a:ext cx="4937760" cy="0"/>
          </a:xfrm>
          <a:prstGeom prst="line">
            <a:avLst/>
          </a:prstGeom>
          <a:noFill/>
          <a:ln w="12700">
            <a:solidFill>
              <a:srgbClr val="D9E1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82803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₹2.2 crore / year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68680" y="54406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value alone, before any avoided downtime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46520" y="1823430"/>
            <a:ext cx="128016" cy="12801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17373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720840" y="203911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risk indication and instant procedures reduce repeats and repair time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46520" y="2874990"/>
            <a:ext cx="128016" cy="12801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2788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economics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720840" y="309067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preparation compresses from weeks to hours; fewer findings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46520" y="3941064"/>
            <a:ext cx="128016" cy="12801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38404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continuity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720840" y="414223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analyses, and lessons retained in citable form beyond individual tenure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46520" y="4992624"/>
            <a:ext cx="128016" cy="12801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48920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effect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720840" y="519379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prevented day of unplanned downtime typically exceeds annual platform cost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ROADMAP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94360" y="6419088"/>
            <a:ext cx="11000232" cy="0"/>
          </a:xfrm>
          <a:prstGeom prst="line">
            <a:avLst/>
          </a:prstGeom>
          <a:noFill/>
          <a:ln w="9525">
            <a:solidFill>
              <a:srgbClr val="D9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IndusMind — Unified Asset &amp; Operations Intelligence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84080" y="647395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>
              <a:solidFill>
                <a:srgbClr val="7E8C94"/>
              </a:solidFill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11018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phases from foundation to enterprise readiness — all demonstrated end-to-end today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417320" y="1783080"/>
            <a:ext cx="512064" cy="51206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011680" y="2039112"/>
            <a:ext cx="1600200" cy="0"/>
          </a:xfrm>
          <a:prstGeom prst="line">
            <a:avLst/>
          </a:prstGeom>
          <a:noFill/>
          <a:ln w="19050">
            <a:solidFill>
              <a:srgbClr val="D9E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514600"/>
            <a:ext cx="2103120" cy="1783080"/>
          </a:xfrm>
          <a:prstGeom prst="roundRect">
            <a:avLst>
              <a:gd name="adj" fmla="val 3077"/>
            </a:avLst>
          </a:prstGeom>
          <a:solidFill>
            <a:srgbClr val="F5F8F9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" y="2651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40664" y="3127248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tenancy, RBAC, audit; asset registry; document intake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75888" y="1783080"/>
            <a:ext cx="512064" cy="51206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3675888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270248" y="2039112"/>
            <a:ext cx="1600200" cy="0"/>
          </a:xfrm>
          <a:prstGeom prst="line">
            <a:avLst/>
          </a:prstGeom>
          <a:noFill/>
          <a:ln w="19050">
            <a:solidFill>
              <a:srgbClr val="D9E1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52928" y="2514600"/>
            <a:ext cx="2103120" cy="1783080"/>
          </a:xfrm>
          <a:prstGeom prst="roundRect">
            <a:avLst>
              <a:gd name="adj" fmla="val 3077"/>
            </a:avLst>
          </a:prstGeom>
          <a:solidFill>
            <a:srgbClr val="F5F8F9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99232" y="2651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999232" y="3127248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pipeline; semantic search; knowledge graph; cited assistant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34456" y="1783080"/>
            <a:ext cx="512064" cy="51206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5934456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528816" y="2039112"/>
            <a:ext cx="1600200" cy="0"/>
          </a:xfrm>
          <a:prstGeom prst="line">
            <a:avLst/>
          </a:prstGeom>
          <a:noFill/>
          <a:ln w="19050">
            <a:solidFill>
              <a:srgbClr val="D9E1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11496" y="2514600"/>
            <a:ext cx="2103120" cy="1783080"/>
          </a:xfrm>
          <a:prstGeom prst="roundRect">
            <a:avLst>
              <a:gd name="adj" fmla="val 3077"/>
            </a:avLst>
          </a:prstGeom>
          <a:solidFill>
            <a:srgbClr val="F5F8F9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2651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57800" y="3127248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management; failures &amp; root-cause; condition data &amp; risk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93024" y="1783080"/>
            <a:ext cx="512064" cy="51206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8193024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787384" y="2039112"/>
            <a:ext cx="1600200" cy="0"/>
          </a:xfrm>
          <a:prstGeom prst="line">
            <a:avLst/>
          </a:prstGeom>
          <a:noFill/>
          <a:ln w="19050">
            <a:solidFill>
              <a:srgbClr val="D9E1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70064" y="2514600"/>
            <a:ext cx="2103120" cy="1783080"/>
          </a:xfrm>
          <a:prstGeom prst="roundRect">
            <a:avLst>
              <a:gd name="adj" fmla="val 3077"/>
            </a:avLst>
          </a:prstGeom>
          <a:solidFill>
            <a:srgbClr val="F5F8F9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16368" y="2651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16368" y="3127248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mapping; gap analysis; audit evidence; lessons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451592" y="1783080"/>
            <a:ext cx="512064" cy="51206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2" name="Text 30"/>
          <p:cNvSpPr/>
          <p:nvPr/>
        </p:nvSpPr>
        <p:spPr>
          <a:xfrm>
            <a:off x="10451592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9628632" y="2514600"/>
            <a:ext cx="2103120" cy="1783080"/>
          </a:xfrm>
          <a:prstGeom prst="roundRect">
            <a:avLst>
              <a:gd name="adj" fmla="val 3077"/>
            </a:avLst>
          </a:prstGeom>
          <a:solidFill>
            <a:srgbClr val="F5F8F9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74936" y="2651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readiness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774936" y="3127248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Logbook; interchange &amp; reporting; integrations; i18n; hardening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next enhancements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94360" y="51206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predictive models, built on the condition data the platform accumulates in operation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263640" y="51206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single sign-on and multi-factor authentication (already designed into the product)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94360" y="55778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adapters for enterprise asset-management systems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263640" y="55778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4A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interface-language coverage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94360" y="6419088"/>
            <a:ext cx="11000232" cy="0"/>
          </a:xfrm>
          <a:prstGeom prst="line">
            <a:avLst/>
          </a:prstGeom>
          <a:noFill/>
          <a:ln w="9525">
            <a:solidFill>
              <a:srgbClr val="D9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IndusMind — Unified Asset &amp; Operations Intelligence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84080" y="647395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>
              <a:solidFill>
                <a:srgbClr val="7E8C94"/>
              </a:solidFill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11018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in this presentation is verifiable in the demonstration environment — in minutes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11000232" cy="822960"/>
          </a:xfrm>
          <a:prstGeom prst="roundRect">
            <a:avLst>
              <a:gd name="adj" fmla="val 6667"/>
            </a:avLst>
          </a:prstGeom>
          <a:solidFill>
            <a:srgbClr val="F5F8F9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1109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377440" y="187452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does pump P-101 keep failing?” — a cited, confidence-scored answer in under a minute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235440" y="191109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7E8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→ under a minute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743200"/>
            <a:ext cx="110002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87121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377440" y="283464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scanned manual — searchable and citable within minutes, progress visible throughout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235440" y="287121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7E8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Unreadable → citable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703320"/>
            <a:ext cx="11000232" cy="822960"/>
          </a:xfrm>
          <a:prstGeom prst="roundRect">
            <a:avLst>
              <a:gd name="adj" fmla="val 6667"/>
            </a:avLst>
          </a:prstGeom>
          <a:solidFill>
            <a:srgbClr val="F5F8F9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83133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377440" y="379476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compliance view — a gap identified against the standard, evidence package assembled on demand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35440" y="383133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7E8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→ minutes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4663440"/>
            <a:ext cx="110002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79145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377440" y="47548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shift log — the assistant cites it moments later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235440" y="479145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7E8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kept at source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5806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your plant a memory.   </a:t>
            </a:r>
            <a:r>
              <a:rPr lang="en-US" sz="1250" dirty="0">
                <a:solidFill>
                  <a:srgbClr val="4A5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shown here runs live, end-to-end, in the demonstration environment.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134416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18541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3026664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3867912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470916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555040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639165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10" name="Shape 8"/>
          <p:cNvSpPr/>
          <p:nvPr/>
        </p:nvSpPr>
        <p:spPr>
          <a:xfrm>
            <a:off x="1344168" y="50292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11" name="Shape 9"/>
          <p:cNvSpPr/>
          <p:nvPr/>
        </p:nvSpPr>
        <p:spPr>
          <a:xfrm>
            <a:off x="1344168" y="134416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12" name="Shape 10"/>
          <p:cNvSpPr/>
          <p:nvPr/>
        </p:nvSpPr>
        <p:spPr>
          <a:xfrm>
            <a:off x="1344168" y="218541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13" name="Shape 11"/>
          <p:cNvSpPr/>
          <p:nvPr/>
        </p:nvSpPr>
        <p:spPr>
          <a:xfrm>
            <a:off x="1344168" y="3026664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14" name="Shape 12"/>
          <p:cNvSpPr/>
          <p:nvPr/>
        </p:nvSpPr>
        <p:spPr>
          <a:xfrm>
            <a:off x="1344168" y="3867912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15" name="Shape 13"/>
          <p:cNvSpPr/>
          <p:nvPr/>
        </p:nvSpPr>
        <p:spPr>
          <a:xfrm>
            <a:off x="1344168" y="470916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16" name="Shape 14"/>
          <p:cNvSpPr/>
          <p:nvPr/>
        </p:nvSpPr>
        <p:spPr>
          <a:xfrm>
            <a:off x="1344168" y="555040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17" name="Shape 15"/>
          <p:cNvSpPr/>
          <p:nvPr/>
        </p:nvSpPr>
        <p:spPr>
          <a:xfrm>
            <a:off x="1344168" y="639165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18" name="Shape 16"/>
          <p:cNvSpPr/>
          <p:nvPr/>
        </p:nvSpPr>
        <p:spPr>
          <a:xfrm>
            <a:off x="2185416" y="50292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19" name="Shape 17"/>
          <p:cNvSpPr/>
          <p:nvPr/>
        </p:nvSpPr>
        <p:spPr>
          <a:xfrm>
            <a:off x="2185416" y="134416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20" name="Shape 18"/>
          <p:cNvSpPr/>
          <p:nvPr/>
        </p:nvSpPr>
        <p:spPr>
          <a:xfrm>
            <a:off x="2185416" y="218541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21" name="Shape 19"/>
          <p:cNvSpPr/>
          <p:nvPr/>
        </p:nvSpPr>
        <p:spPr>
          <a:xfrm>
            <a:off x="2185416" y="3026664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22" name="Shape 20"/>
          <p:cNvSpPr/>
          <p:nvPr/>
        </p:nvSpPr>
        <p:spPr>
          <a:xfrm>
            <a:off x="2185416" y="3867912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23" name="Shape 21"/>
          <p:cNvSpPr/>
          <p:nvPr/>
        </p:nvSpPr>
        <p:spPr>
          <a:xfrm>
            <a:off x="2185416" y="470916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24" name="Shape 22"/>
          <p:cNvSpPr/>
          <p:nvPr/>
        </p:nvSpPr>
        <p:spPr>
          <a:xfrm>
            <a:off x="2185416" y="555040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25" name="Shape 23"/>
          <p:cNvSpPr/>
          <p:nvPr/>
        </p:nvSpPr>
        <p:spPr>
          <a:xfrm>
            <a:off x="2185416" y="639165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26" name="Shape 24"/>
          <p:cNvSpPr/>
          <p:nvPr/>
        </p:nvSpPr>
        <p:spPr>
          <a:xfrm>
            <a:off x="3026664" y="50292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27" name="Shape 25"/>
          <p:cNvSpPr/>
          <p:nvPr/>
        </p:nvSpPr>
        <p:spPr>
          <a:xfrm>
            <a:off x="3026664" y="134416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28" name="Shape 26"/>
          <p:cNvSpPr/>
          <p:nvPr/>
        </p:nvSpPr>
        <p:spPr>
          <a:xfrm>
            <a:off x="3026664" y="218541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29" name="Shape 27"/>
          <p:cNvSpPr/>
          <p:nvPr/>
        </p:nvSpPr>
        <p:spPr>
          <a:xfrm>
            <a:off x="3026664" y="3026664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30" name="Shape 28"/>
          <p:cNvSpPr/>
          <p:nvPr/>
        </p:nvSpPr>
        <p:spPr>
          <a:xfrm>
            <a:off x="3026664" y="3867912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31" name="Shape 29"/>
          <p:cNvSpPr/>
          <p:nvPr/>
        </p:nvSpPr>
        <p:spPr>
          <a:xfrm>
            <a:off x="3026664" y="470916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32" name="Shape 30"/>
          <p:cNvSpPr/>
          <p:nvPr/>
        </p:nvSpPr>
        <p:spPr>
          <a:xfrm>
            <a:off x="3026664" y="555040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33" name="Shape 31"/>
          <p:cNvSpPr/>
          <p:nvPr/>
        </p:nvSpPr>
        <p:spPr>
          <a:xfrm>
            <a:off x="3026664" y="639165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34" name="Shape 32"/>
          <p:cNvSpPr/>
          <p:nvPr/>
        </p:nvSpPr>
        <p:spPr>
          <a:xfrm>
            <a:off x="3867912" y="50292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35" name="Shape 33"/>
          <p:cNvSpPr/>
          <p:nvPr/>
        </p:nvSpPr>
        <p:spPr>
          <a:xfrm>
            <a:off x="3867912" y="134416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36" name="Shape 34"/>
          <p:cNvSpPr/>
          <p:nvPr/>
        </p:nvSpPr>
        <p:spPr>
          <a:xfrm>
            <a:off x="3867912" y="218541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37" name="Shape 35"/>
          <p:cNvSpPr/>
          <p:nvPr/>
        </p:nvSpPr>
        <p:spPr>
          <a:xfrm>
            <a:off x="3867912" y="3026664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38" name="Shape 36"/>
          <p:cNvSpPr/>
          <p:nvPr/>
        </p:nvSpPr>
        <p:spPr>
          <a:xfrm>
            <a:off x="3867912" y="3867912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39" name="Shape 37"/>
          <p:cNvSpPr/>
          <p:nvPr/>
        </p:nvSpPr>
        <p:spPr>
          <a:xfrm>
            <a:off x="3867912" y="470916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40" name="Shape 38"/>
          <p:cNvSpPr/>
          <p:nvPr/>
        </p:nvSpPr>
        <p:spPr>
          <a:xfrm>
            <a:off x="3867912" y="555040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41" name="Shape 39"/>
          <p:cNvSpPr/>
          <p:nvPr/>
        </p:nvSpPr>
        <p:spPr>
          <a:xfrm>
            <a:off x="3867912" y="639165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42" name="Shape 40"/>
          <p:cNvSpPr/>
          <p:nvPr/>
        </p:nvSpPr>
        <p:spPr>
          <a:xfrm>
            <a:off x="4709160" y="50292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43" name="Shape 41"/>
          <p:cNvSpPr/>
          <p:nvPr/>
        </p:nvSpPr>
        <p:spPr>
          <a:xfrm>
            <a:off x="4709160" y="134416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44" name="Shape 42"/>
          <p:cNvSpPr/>
          <p:nvPr/>
        </p:nvSpPr>
        <p:spPr>
          <a:xfrm>
            <a:off x="4709160" y="218541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45" name="Shape 43"/>
          <p:cNvSpPr/>
          <p:nvPr/>
        </p:nvSpPr>
        <p:spPr>
          <a:xfrm>
            <a:off x="4709160" y="3026664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46" name="Shape 44"/>
          <p:cNvSpPr/>
          <p:nvPr/>
        </p:nvSpPr>
        <p:spPr>
          <a:xfrm>
            <a:off x="4709160" y="3867912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47" name="Shape 45"/>
          <p:cNvSpPr/>
          <p:nvPr/>
        </p:nvSpPr>
        <p:spPr>
          <a:xfrm>
            <a:off x="4709160" y="470916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48" name="Shape 46"/>
          <p:cNvSpPr/>
          <p:nvPr/>
        </p:nvSpPr>
        <p:spPr>
          <a:xfrm>
            <a:off x="4709160" y="555040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49" name="Shape 47"/>
          <p:cNvSpPr/>
          <p:nvPr/>
        </p:nvSpPr>
        <p:spPr>
          <a:xfrm>
            <a:off x="4709160" y="639165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50" name="Shape 48"/>
          <p:cNvSpPr/>
          <p:nvPr/>
        </p:nvSpPr>
        <p:spPr>
          <a:xfrm>
            <a:off x="5550408" y="50292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51" name="Shape 49"/>
          <p:cNvSpPr/>
          <p:nvPr/>
        </p:nvSpPr>
        <p:spPr>
          <a:xfrm>
            <a:off x="5550408" y="134416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52" name="Shape 50"/>
          <p:cNvSpPr/>
          <p:nvPr/>
        </p:nvSpPr>
        <p:spPr>
          <a:xfrm>
            <a:off x="5550408" y="218541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53" name="Shape 51"/>
          <p:cNvSpPr/>
          <p:nvPr/>
        </p:nvSpPr>
        <p:spPr>
          <a:xfrm>
            <a:off x="5550408" y="3026664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54" name="Shape 52"/>
          <p:cNvSpPr/>
          <p:nvPr/>
        </p:nvSpPr>
        <p:spPr>
          <a:xfrm>
            <a:off x="5550408" y="3867912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55" name="Shape 53"/>
          <p:cNvSpPr/>
          <p:nvPr/>
        </p:nvSpPr>
        <p:spPr>
          <a:xfrm>
            <a:off x="5550408" y="470916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56" name="Shape 54"/>
          <p:cNvSpPr/>
          <p:nvPr/>
        </p:nvSpPr>
        <p:spPr>
          <a:xfrm>
            <a:off x="5550408" y="555040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57" name="Shape 55"/>
          <p:cNvSpPr/>
          <p:nvPr/>
        </p:nvSpPr>
        <p:spPr>
          <a:xfrm>
            <a:off x="5550408" y="639165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58" name="Shape 56"/>
          <p:cNvSpPr/>
          <p:nvPr/>
        </p:nvSpPr>
        <p:spPr>
          <a:xfrm>
            <a:off x="6391656" y="50292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59" name="Shape 57"/>
          <p:cNvSpPr/>
          <p:nvPr/>
        </p:nvSpPr>
        <p:spPr>
          <a:xfrm>
            <a:off x="6391656" y="134416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60" name="Shape 58"/>
          <p:cNvSpPr/>
          <p:nvPr/>
        </p:nvSpPr>
        <p:spPr>
          <a:xfrm>
            <a:off x="6391656" y="218541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61" name="Shape 59"/>
          <p:cNvSpPr/>
          <p:nvPr/>
        </p:nvSpPr>
        <p:spPr>
          <a:xfrm>
            <a:off x="6391656" y="3026664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62" name="Shape 60"/>
          <p:cNvSpPr/>
          <p:nvPr/>
        </p:nvSpPr>
        <p:spPr>
          <a:xfrm>
            <a:off x="6391656" y="3867912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63" name="Shape 61"/>
          <p:cNvSpPr/>
          <p:nvPr/>
        </p:nvSpPr>
        <p:spPr>
          <a:xfrm>
            <a:off x="6391656" y="470916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64" name="Shape 62"/>
          <p:cNvSpPr/>
          <p:nvPr/>
        </p:nvSpPr>
        <p:spPr>
          <a:xfrm>
            <a:off x="6391656" y="555040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65" name="Shape 63"/>
          <p:cNvSpPr/>
          <p:nvPr/>
        </p:nvSpPr>
        <p:spPr>
          <a:xfrm>
            <a:off x="6391656" y="639165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66" name="Shape 64"/>
          <p:cNvSpPr/>
          <p:nvPr/>
        </p:nvSpPr>
        <p:spPr>
          <a:xfrm>
            <a:off x="7232904" y="50292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67" name="Shape 65"/>
          <p:cNvSpPr/>
          <p:nvPr/>
        </p:nvSpPr>
        <p:spPr>
          <a:xfrm>
            <a:off x="7232904" y="134416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68" name="Shape 66"/>
          <p:cNvSpPr/>
          <p:nvPr/>
        </p:nvSpPr>
        <p:spPr>
          <a:xfrm>
            <a:off x="7232904" y="218541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69" name="Shape 67"/>
          <p:cNvSpPr/>
          <p:nvPr/>
        </p:nvSpPr>
        <p:spPr>
          <a:xfrm>
            <a:off x="7232904" y="3026664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70" name="Shape 68"/>
          <p:cNvSpPr/>
          <p:nvPr/>
        </p:nvSpPr>
        <p:spPr>
          <a:xfrm>
            <a:off x="7232904" y="3867912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71" name="Shape 69"/>
          <p:cNvSpPr/>
          <p:nvPr/>
        </p:nvSpPr>
        <p:spPr>
          <a:xfrm>
            <a:off x="7232904" y="470916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72" name="Shape 70"/>
          <p:cNvSpPr/>
          <p:nvPr/>
        </p:nvSpPr>
        <p:spPr>
          <a:xfrm>
            <a:off x="7232904" y="555040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73" name="Shape 71"/>
          <p:cNvSpPr/>
          <p:nvPr/>
        </p:nvSpPr>
        <p:spPr>
          <a:xfrm>
            <a:off x="7232904" y="639165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74" name="Shape 72"/>
          <p:cNvSpPr/>
          <p:nvPr/>
        </p:nvSpPr>
        <p:spPr>
          <a:xfrm>
            <a:off x="8074152" y="50292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75" name="Shape 73"/>
          <p:cNvSpPr/>
          <p:nvPr/>
        </p:nvSpPr>
        <p:spPr>
          <a:xfrm>
            <a:off x="8074152" y="134416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76" name="Shape 74"/>
          <p:cNvSpPr/>
          <p:nvPr/>
        </p:nvSpPr>
        <p:spPr>
          <a:xfrm>
            <a:off x="8074152" y="218541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77" name="Shape 75"/>
          <p:cNvSpPr/>
          <p:nvPr/>
        </p:nvSpPr>
        <p:spPr>
          <a:xfrm>
            <a:off x="8074152" y="3026664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78" name="Shape 76"/>
          <p:cNvSpPr/>
          <p:nvPr/>
        </p:nvSpPr>
        <p:spPr>
          <a:xfrm>
            <a:off x="8074152" y="3867912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79" name="Shape 77"/>
          <p:cNvSpPr/>
          <p:nvPr/>
        </p:nvSpPr>
        <p:spPr>
          <a:xfrm>
            <a:off x="8074152" y="470916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80" name="Shape 78"/>
          <p:cNvSpPr/>
          <p:nvPr/>
        </p:nvSpPr>
        <p:spPr>
          <a:xfrm>
            <a:off x="8074152" y="555040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81" name="Shape 79"/>
          <p:cNvSpPr/>
          <p:nvPr/>
        </p:nvSpPr>
        <p:spPr>
          <a:xfrm>
            <a:off x="8074152" y="639165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82" name="Shape 80"/>
          <p:cNvSpPr/>
          <p:nvPr/>
        </p:nvSpPr>
        <p:spPr>
          <a:xfrm>
            <a:off x="8915400" y="50292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83" name="Shape 81"/>
          <p:cNvSpPr/>
          <p:nvPr/>
        </p:nvSpPr>
        <p:spPr>
          <a:xfrm>
            <a:off x="8915400" y="134416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84" name="Shape 82"/>
          <p:cNvSpPr/>
          <p:nvPr/>
        </p:nvSpPr>
        <p:spPr>
          <a:xfrm>
            <a:off x="8915400" y="218541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85" name="Shape 83"/>
          <p:cNvSpPr/>
          <p:nvPr/>
        </p:nvSpPr>
        <p:spPr>
          <a:xfrm>
            <a:off x="8915400" y="3026664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86" name="Shape 84"/>
          <p:cNvSpPr/>
          <p:nvPr/>
        </p:nvSpPr>
        <p:spPr>
          <a:xfrm>
            <a:off x="8915400" y="3867912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87" name="Shape 85"/>
          <p:cNvSpPr/>
          <p:nvPr/>
        </p:nvSpPr>
        <p:spPr>
          <a:xfrm>
            <a:off x="8915400" y="470916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88" name="Shape 86"/>
          <p:cNvSpPr/>
          <p:nvPr/>
        </p:nvSpPr>
        <p:spPr>
          <a:xfrm>
            <a:off x="8915400" y="555040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89" name="Shape 87"/>
          <p:cNvSpPr/>
          <p:nvPr/>
        </p:nvSpPr>
        <p:spPr>
          <a:xfrm>
            <a:off x="8915400" y="639165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90" name="Shape 88"/>
          <p:cNvSpPr/>
          <p:nvPr/>
        </p:nvSpPr>
        <p:spPr>
          <a:xfrm>
            <a:off x="9756648" y="50292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91" name="Shape 89"/>
          <p:cNvSpPr/>
          <p:nvPr/>
        </p:nvSpPr>
        <p:spPr>
          <a:xfrm>
            <a:off x="9756648" y="134416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92" name="Shape 90"/>
          <p:cNvSpPr/>
          <p:nvPr/>
        </p:nvSpPr>
        <p:spPr>
          <a:xfrm>
            <a:off x="9756648" y="218541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93" name="Shape 91"/>
          <p:cNvSpPr/>
          <p:nvPr/>
        </p:nvSpPr>
        <p:spPr>
          <a:xfrm>
            <a:off x="9756648" y="3026664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94" name="Shape 92"/>
          <p:cNvSpPr/>
          <p:nvPr/>
        </p:nvSpPr>
        <p:spPr>
          <a:xfrm>
            <a:off x="9756648" y="3867912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95" name="Shape 93"/>
          <p:cNvSpPr/>
          <p:nvPr/>
        </p:nvSpPr>
        <p:spPr>
          <a:xfrm>
            <a:off x="9756648" y="470916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96" name="Shape 94"/>
          <p:cNvSpPr/>
          <p:nvPr/>
        </p:nvSpPr>
        <p:spPr>
          <a:xfrm>
            <a:off x="9756648" y="555040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97" name="Shape 95"/>
          <p:cNvSpPr/>
          <p:nvPr/>
        </p:nvSpPr>
        <p:spPr>
          <a:xfrm>
            <a:off x="9756648" y="639165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98" name="Shape 96"/>
          <p:cNvSpPr/>
          <p:nvPr/>
        </p:nvSpPr>
        <p:spPr>
          <a:xfrm>
            <a:off x="10597896" y="50292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99" name="Shape 97"/>
          <p:cNvSpPr/>
          <p:nvPr/>
        </p:nvSpPr>
        <p:spPr>
          <a:xfrm>
            <a:off x="10597896" y="134416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597896" y="218541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597896" y="3026664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597896" y="3867912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597896" y="470916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597896" y="555040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597896" y="639165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1439144" y="50292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1439144" y="134416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1439144" y="218541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1439144" y="3026664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1439144" y="3867912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1439144" y="4709160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1439144" y="5550408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1439144" y="6391656"/>
            <a:ext cx="29261" cy="29261"/>
          </a:xfrm>
          <a:prstGeom prst="ellipse">
            <a:avLst/>
          </a:prstGeom>
          <a:solidFill>
            <a:srgbClr val="0E363C"/>
          </a:solidFill>
          <a:ln/>
        </p:spPr>
      </p:sp>
      <p:sp>
        <p:nvSpPr>
          <p:cNvPr id="114" name="Text 112"/>
          <p:cNvSpPr/>
          <p:nvPr/>
        </p:nvSpPr>
        <p:spPr>
          <a:xfrm>
            <a:off x="822960" y="502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</a:t>
            </a:r>
            <a:r>
              <a:rPr lang="en-US" sz="2000" b="1" dirty="0">
                <a:solidFill>
                  <a:srgbClr val="4FC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</a:t>
            </a:r>
            <a:endParaRPr lang="en-US" sz="2000" dirty="0"/>
          </a:p>
        </p:txBody>
      </p:sp>
      <p:sp>
        <p:nvSpPr>
          <p:cNvPr id="115" name="Shape 113"/>
          <p:cNvSpPr/>
          <p:nvPr/>
        </p:nvSpPr>
        <p:spPr>
          <a:xfrm>
            <a:off x="822960" y="2331720"/>
            <a:ext cx="1828800" cy="0"/>
          </a:xfrm>
          <a:prstGeom prst="line">
            <a:avLst/>
          </a:prstGeom>
          <a:noFill/>
          <a:ln w="38100">
            <a:solidFill>
              <a:srgbClr val="4FC3CD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04672" y="25603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6800" dirty="0"/>
          </a:p>
        </p:txBody>
      </p:sp>
      <p:sp>
        <p:nvSpPr>
          <p:cNvPr id="117" name="Text 115"/>
          <p:cNvSpPr/>
          <p:nvPr/>
        </p:nvSpPr>
        <p:spPr>
          <a:xfrm>
            <a:off x="822960" y="37947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your plant a memory.</a:t>
            </a:r>
            <a:endParaRPr lang="en-US" sz="2200" dirty="0"/>
          </a:p>
        </p:txBody>
      </p:sp>
      <p:sp>
        <p:nvSpPr>
          <p:cNvPr id="118" name="Text 116"/>
          <p:cNvSpPr/>
          <p:nvPr/>
        </p:nvSpPr>
        <p:spPr>
          <a:xfrm>
            <a:off x="822960" y="431596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IndusMind — every manual, every failure, and every fix, one question away.</a:t>
            </a:r>
            <a:endParaRPr lang="en-US" sz="1500" dirty="0"/>
          </a:p>
        </p:txBody>
      </p:sp>
      <p:sp>
        <p:nvSpPr>
          <p:cNvPr id="119" name="Shape 117"/>
          <p:cNvSpPr/>
          <p:nvPr/>
        </p:nvSpPr>
        <p:spPr>
          <a:xfrm>
            <a:off x="822960" y="5394960"/>
            <a:ext cx="10543032" cy="0"/>
          </a:xfrm>
          <a:prstGeom prst="line">
            <a:avLst/>
          </a:prstGeom>
          <a:noFill/>
          <a:ln w="12700">
            <a:solidFill>
              <a:srgbClr val="1D555D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22960" y="55961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5E9AA1"/>
                </a:solidFill>
                <a:latin typeface="Arial"/>
                <a:cs typeface="Arial"/>
              </a:rPr>
              <a:t>NAME</a:t>
            </a:r>
            <a:endParaRPr lang="en-US" sz="950" dirty="0"/>
          </a:p>
        </p:txBody>
      </p:sp>
      <p:sp>
        <p:nvSpPr>
          <p:cNvPr id="121" name="Text 119"/>
          <p:cNvSpPr/>
          <p:nvPr/>
        </p:nvSpPr>
        <p:spPr>
          <a:xfrm>
            <a:off x="822960" y="58521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>
                <a:solidFill>
                  <a:srgbClr val="E3EDEE"/>
                </a:solidFill>
                <a:latin typeface="Calibri"/>
                <a:ea typeface="Calibri"/>
                <a:cs typeface="Calibri"/>
              </a:rPr>
              <a:t>KOTA SRIRAMA MANISH</a:t>
            </a:r>
            <a:endParaRPr lang="en-US" sz="1250" dirty="0"/>
          </a:p>
        </p:txBody>
      </p:sp>
      <p:sp>
        <p:nvSpPr>
          <p:cNvPr id="122" name="Text 120"/>
          <p:cNvSpPr/>
          <p:nvPr/>
        </p:nvSpPr>
        <p:spPr>
          <a:xfrm>
            <a:off x="4480560" y="55961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9A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950" dirty="0"/>
          </a:p>
        </p:txBody>
      </p:sp>
      <p:sp>
        <p:nvSpPr>
          <p:cNvPr id="123" name="Text 121"/>
          <p:cNvSpPr/>
          <p:nvPr/>
        </p:nvSpPr>
        <p:spPr>
          <a:xfrm>
            <a:off x="4480560" y="58521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>
                <a:solidFill>
                  <a:srgbClr val="E3EDEE"/>
                </a:solidFill>
                <a:latin typeface="Calibri"/>
                <a:ea typeface="Calibri"/>
                <a:cs typeface="Calibri"/>
              </a:rPr>
              <a:t>+91 93818 90654, manishcse2006@gmail.com</a:t>
            </a:r>
            <a:endParaRPr lang="en-US" sz="12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4" name="Text 122"/>
          <p:cNvSpPr/>
          <p:nvPr/>
        </p:nvSpPr>
        <p:spPr>
          <a:xfrm>
            <a:off x="8138160" y="55961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9A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WELCOME</a:t>
            </a:r>
            <a:endParaRPr lang="en-US" sz="950" dirty="0"/>
          </a:p>
        </p:txBody>
      </p:sp>
      <p:sp>
        <p:nvSpPr>
          <p:cNvPr id="125" name="Text 123"/>
          <p:cNvSpPr/>
          <p:nvPr/>
        </p:nvSpPr>
        <p:spPr>
          <a:xfrm>
            <a:off x="8138160" y="58521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happy to walk through any part of the solution live</a:t>
            </a:r>
            <a:endParaRPr lang="en-US" sz="1250" dirty="0"/>
          </a:p>
        </p:txBody>
      </p:sp>
      <p:sp>
        <p:nvSpPr>
          <p:cNvPr id="126" name="Text 124"/>
          <p:cNvSpPr/>
          <p:nvPr/>
        </p:nvSpPr>
        <p:spPr>
          <a:xfrm>
            <a:off x="9829800" y="647395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>
              <a:solidFill>
                <a:srgbClr val="5E9AA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60</cp:revision>
  <dcterms:created xsi:type="dcterms:W3CDTF">2026-07-16T17:37:05Z</dcterms:created>
  <dcterms:modified xsi:type="dcterms:W3CDTF">2026-07-16T18:26:44Z</dcterms:modified>
</cp:coreProperties>
</file>